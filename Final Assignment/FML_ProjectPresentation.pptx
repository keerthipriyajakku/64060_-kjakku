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60" r:id="rId5"/>
    <p:sldId id="262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22"/>
    <p:restoredTop sz="94610"/>
  </p:normalViewPr>
  <p:slideViewPr>
    <p:cSldViewPr snapToGrid="0" snapToObjects="1">
      <p:cViewPr varScale="1">
        <p:scale>
          <a:sx n="160" d="100"/>
          <a:sy n="160" d="100"/>
        </p:scale>
        <p:origin x="16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642677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74084A-7494-7987-3855-5033175D1F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F27DC8-E6C8-8E3C-1A2D-A6EE1C6074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95AD68-405B-CB4E-AF91-567CC6A91A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0B3980-2365-8E49-36B2-53239469B04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61777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3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637286" y="1828800"/>
            <a:ext cx="3657600" cy="3657600"/>
          </a:xfrm>
          <a:prstGeom prst="ellipse">
            <a:avLst/>
          </a:prstGeom>
          <a:solidFill>
            <a:srgbClr val="025252">
              <a:alpha val="80000"/>
            </a:srgbClr>
          </a:solidFill>
          <a:ln w="12700">
            <a:solidFill>
              <a:srgbClr val="00868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858000" y="-914400"/>
            <a:ext cx="4572000" cy="4572000"/>
          </a:xfrm>
          <a:prstGeom prst="ellipse">
            <a:avLst/>
          </a:prstGeom>
          <a:solidFill>
            <a:srgbClr val="00868A">
              <a:alpha val="40000"/>
            </a:srgbClr>
          </a:solidFill>
          <a:ln w="12700">
            <a:solidFill>
              <a:srgbClr val="00D4D4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772400" y="2743200"/>
            <a:ext cx="2743200" cy="2743200"/>
          </a:xfrm>
          <a:prstGeom prst="ellipse">
            <a:avLst/>
          </a:prstGeom>
          <a:solidFill>
            <a:srgbClr val="025252">
              <a:alpha val="70000"/>
            </a:srgbClr>
          </a:solidFill>
          <a:ln w="12700">
            <a:solidFill>
              <a:srgbClr val="00868A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96902" y="2746281"/>
            <a:ext cx="8229600" cy="18288"/>
          </a:xfrm>
          <a:prstGeom prst="rect">
            <a:avLst/>
          </a:prstGeom>
          <a:solidFill>
            <a:srgbClr val="00868A">
              <a:alpha val="60000"/>
            </a:srgbClr>
          </a:solidFill>
          <a:ln w="12700">
            <a:solidFill>
              <a:srgbClr val="00868A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3520440"/>
            <a:ext cx="8229600" cy="18288"/>
          </a:xfrm>
          <a:prstGeom prst="rect">
            <a:avLst/>
          </a:prstGeom>
          <a:solidFill>
            <a:srgbClr val="00868A">
              <a:alpha val="60000"/>
            </a:srgbClr>
          </a:solidFill>
          <a:ln w="12700">
            <a:solidFill>
              <a:srgbClr val="00868A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2678595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CREDIT CARD FRAUD DETECTION</a:t>
            </a:r>
            <a:endParaRPr lang="en-US" sz="4400" b="1" dirty="0">
              <a:solidFill>
                <a:schemeClr val="bg1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274320" y="2796871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457200" y="4023360"/>
            <a:ext cx="20116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4023360"/>
            <a:ext cx="20116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Keerthi Priya Jakku   |   Fundamentals of Machine Learning</a:t>
            </a:r>
            <a:endParaRPr lang="en-US" sz="1200" b="1" dirty="0">
              <a:solidFill>
                <a:schemeClr val="bg1"/>
              </a:solidFill>
            </a:endParaRPr>
          </a:p>
        </p:txBody>
      </p:sp>
      <p:pic>
        <p:nvPicPr>
          <p:cNvPr id="18" name="Picture 17" descr="A person in a hoodie holding a credit card and using a computer&#10;&#10;AI-generated content may be incorrect.">
            <a:extLst>
              <a:ext uri="{FF2B5EF4-FFF2-40B4-BE49-F238E27FC236}">
                <a16:creationId xmlns:a16="http://schemas.microsoft.com/office/drawing/2014/main" id="{A3DB1D0E-BE0D-27CF-1E78-F7FB834CF4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39085"/>
            <a:ext cx="2573052" cy="1663727"/>
          </a:xfrm>
          <a:prstGeom prst="rect">
            <a:avLst/>
          </a:prstGeom>
        </p:spPr>
      </p:pic>
      <p:pic>
        <p:nvPicPr>
          <p:cNvPr id="1032" name="Picture 8" descr="How To Prevent Credit Card Fraud | Credit One Bank">
            <a:extLst>
              <a:ext uri="{FF2B5EF4-FFF2-40B4-BE49-F238E27FC236}">
                <a16:creationId xmlns:a16="http://schemas.microsoft.com/office/drawing/2014/main" id="{C13BEF6C-4FBB-44CF-D59A-3B456BCEDE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0567" y="630820"/>
            <a:ext cx="2956677" cy="16631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Possible Defenses for Credit and Debit Card Fraud">
            <a:extLst>
              <a:ext uri="{FF2B5EF4-FFF2-40B4-BE49-F238E27FC236}">
                <a16:creationId xmlns:a16="http://schemas.microsoft.com/office/drawing/2014/main" id="{08857AE3-1E84-6078-9D40-44BDDD1420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7559" y="639085"/>
            <a:ext cx="2510680" cy="16748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13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2286000"/>
            <a:ext cx="3200400" cy="3200400"/>
          </a:xfrm>
          <a:prstGeom prst="ellipse">
            <a:avLst/>
          </a:prstGeom>
          <a:solidFill>
            <a:srgbClr val="00868A">
              <a:alpha val="30000"/>
            </a:srgbClr>
          </a:solidFill>
          <a:ln w="12700">
            <a:solidFill>
              <a:srgbClr val="00D4D4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731520"/>
            <a:ext cx="3657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dirty="0">
                <a:solidFill>
                  <a:srgbClr val="00D4D4"/>
                </a:solidFill>
                <a:ea typeface="Calibri" pitchFamily="34" charset="-122"/>
                <a:cs typeface="Calibri" pitchFamily="34" charset="-120"/>
              </a:rPr>
              <a:t>The</a:t>
            </a:r>
            <a:endParaRPr lang="en-US" sz="5200" dirty="0"/>
          </a:p>
          <a:p>
            <a:pPr marL="0" indent="0">
              <a:buNone/>
            </a:pPr>
            <a:r>
              <a:rPr lang="en-US" sz="5200" dirty="0">
                <a:solidFill>
                  <a:srgbClr val="00D4D4"/>
                </a:solidFill>
                <a:ea typeface="Calibri" pitchFamily="34" charset="-122"/>
                <a:cs typeface="Calibri" pitchFamily="34" charset="-120"/>
              </a:rPr>
              <a:t>Problem</a:t>
            </a:r>
            <a:endParaRPr lang="en-US" sz="5200" dirty="0"/>
          </a:p>
        </p:txBody>
      </p:sp>
      <p:sp>
        <p:nvSpPr>
          <p:cNvPr id="4" name="Shape 2"/>
          <p:cNvSpPr/>
          <p:nvPr/>
        </p:nvSpPr>
        <p:spPr>
          <a:xfrm>
            <a:off x="3840480" y="457200"/>
            <a:ext cx="1280160" cy="1280160"/>
          </a:xfrm>
          <a:prstGeom prst="ellipse">
            <a:avLst/>
          </a:prstGeom>
          <a:solidFill>
            <a:srgbClr val="025252"/>
          </a:solidFill>
          <a:ln w="12700">
            <a:solidFill>
              <a:srgbClr val="00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840480" y="457200"/>
            <a:ext cx="1280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Millions of Transactions</a:t>
            </a:r>
            <a:endParaRPr lang="en-US" sz="800" b="1" dirty="0">
              <a:solidFill>
                <a:schemeClr val="bg1"/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5257800" y="548640"/>
            <a:ext cx="3566160" cy="1097280"/>
          </a:xfrm>
          <a:prstGeom prst="roundRect">
            <a:avLst>
              <a:gd name="adj" fmla="val 8333"/>
            </a:avLst>
          </a:prstGeom>
          <a:solidFill>
            <a:srgbClr val="024444"/>
          </a:solidFill>
          <a:ln w="12700">
            <a:solidFill>
              <a:srgbClr val="0086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394960" y="621792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/>
              <a:t> </a:t>
            </a:r>
          </a:p>
        </p:txBody>
      </p:sp>
      <p:sp>
        <p:nvSpPr>
          <p:cNvPr id="8" name="Shape 6"/>
          <p:cNvSpPr/>
          <p:nvPr/>
        </p:nvSpPr>
        <p:spPr>
          <a:xfrm>
            <a:off x="3840480" y="1874520"/>
            <a:ext cx="1280160" cy="1280160"/>
          </a:xfrm>
          <a:prstGeom prst="ellipse">
            <a:avLst/>
          </a:prstGeom>
          <a:solidFill>
            <a:srgbClr val="025252"/>
          </a:solidFill>
          <a:ln w="12700">
            <a:solidFill>
              <a:srgbClr val="00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840480" y="1874520"/>
            <a:ext cx="1280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Historical Data Training</a:t>
            </a:r>
            <a:endParaRPr lang="en-US" sz="800" b="1" dirty="0">
              <a:solidFill>
                <a:schemeClr val="bg1"/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5257800" y="1965960"/>
            <a:ext cx="3566160" cy="1097280"/>
          </a:xfrm>
          <a:prstGeom prst="roundRect">
            <a:avLst>
              <a:gd name="adj" fmla="val 8333"/>
            </a:avLst>
          </a:prstGeom>
          <a:solidFill>
            <a:srgbClr val="024444"/>
          </a:solidFill>
          <a:ln w="12700">
            <a:solidFill>
              <a:srgbClr val="0086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394960" y="2039112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Models learn from past transactions to automatically identify suspicious patterns in real time.</a:t>
            </a:r>
          </a:p>
        </p:txBody>
      </p:sp>
      <p:sp>
        <p:nvSpPr>
          <p:cNvPr id="12" name="Shape 10"/>
          <p:cNvSpPr/>
          <p:nvPr/>
        </p:nvSpPr>
        <p:spPr>
          <a:xfrm>
            <a:off x="3840480" y="3291840"/>
            <a:ext cx="1280160" cy="1280160"/>
          </a:xfrm>
          <a:prstGeom prst="ellipse">
            <a:avLst/>
          </a:prstGeom>
          <a:solidFill>
            <a:srgbClr val="025252"/>
          </a:solidFill>
          <a:ln w="12700">
            <a:solidFill>
              <a:srgbClr val="00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840480" y="3291840"/>
            <a:ext cx="1280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Risk Management</a:t>
            </a:r>
            <a:endParaRPr lang="en-US" sz="800" b="1" dirty="0">
              <a:solidFill>
                <a:schemeClr val="bg1"/>
              </a:solidFill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257800" y="3383280"/>
            <a:ext cx="3566160" cy="1097280"/>
          </a:xfrm>
          <a:prstGeom prst="roundRect">
            <a:avLst>
              <a:gd name="adj" fmla="val 8333"/>
            </a:avLst>
          </a:prstGeom>
          <a:solidFill>
            <a:srgbClr val="024444"/>
          </a:solidFill>
          <a:ln w="12700">
            <a:solidFill>
              <a:srgbClr val="0086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394960" y="3456432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Fraud probability scores help banks prioritize reviews, reducing analyst workload and speeding up decisions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274320" y="3383280"/>
            <a:ext cx="313679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D4D4"/>
                </a:solidFill>
                <a:ea typeface="Calibri" pitchFamily="34" charset="-122"/>
                <a:cs typeface="Calibri" pitchFamily="34" charset="-120"/>
              </a:rPr>
              <a:t>Billions of dollars loss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274320" y="3913632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Due to credit card fraud annually</a:t>
            </a:r>
            <a:endParaRPr lang="en-US" sz="12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(FTC Consumer Sentinel 2023)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8" name="Shape 16"/>
          <p:cNvSpPr/>
          <p:nvPr/>
        </p:nvSpPr>
        <p:spPr>
          <a:xfrm>
            <a:off x="274320" y="4709160"/>
            <a:ext cx="8595360" cy="18288"/>
          </a:xfrm>
          <a:prstGeom prst="rect">
            <a:avLst/>
          </a:prstGeom>
          <a:solidFill>
            <a:srgbClr val="00868A">
              <a:alpha val="60000"/>
            </a:srgbClr>
          </a:solidFill>
          <a:ln w="12700">
            <a:solidFill>
              <a:srgbClr val="00868A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74320" y="4773168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1" name="Rectangle 2">
            <a:extLst>
              <a:ext uri="{FF2B5EF4-FFF2-40B4-BE49-F238E27FC236}">
                <a16:creationId xmlns:a16="http://schemas.microsoft.com/office/drawing/2014/main" id="{35CAC8D2-D9B8-E196-B0C3-0E9CFE88A9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19423" y="871828"/>
            <a:ext cx="336737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</a:rPr>
              <a:t>Manually reviewing millions of daily transactions is impossible — automation is the only solution.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13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0" y="771276"/>
            <a:ext cx="3264408" cy="3005195"/>
          </a:xfrm>
          <a:prstGeom prst="ellipse">
            <a:avLst/>
          </a:prstGeom>
          <a:solidFill>
            <a:srgbClr val="00868A">
              <a:alpha val="50000"/>
            </a:srgbClr>
          </a:solidFill>
          <a:ln w="12700">
            <a:solidFill>
              <a:srgbClr val="00D4D4"/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2926080" y="685800"/>
            <a:ext cx="3291840" cy="3154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800" b="1" dirty="0">
              <a:solidFill>
                <a:srgbClr val="00D4D4"/>
              </a:solidFill>
              <a:cs typeface="Calibri" pitchFamily="34" charset="-120"/>
            </a:endParaRPr>
          </a:p>
          <a:p>
            <a:pPr marL="0" indent="0" algn="ctr">
              <a:buNone/>
            </a:pPr>
            <a:r>
              <a:rPr lang="en-US" sz="2800" b="1" dirty="0">
                <a:solidFill>
                  <a:srgbClr val="00D4D4"/>
                </a:solidFill>
                <a:cs typeface="Calibri" pitchFamily="34" charset="-120"/>
              </a:rPr>
              <a:t>THE APPROACH</a:t>
            </a:r>
          </a:p>
          <a:p>
            <a:pPr marL="0" indent="0" algn="ctr">
              <a:buNone/>
            </a:pP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274320" y="137160"/>
            <a:ext cx="8595360" cy="347472"/>
          </a:xfrm>
          <a:prstGeom prst="rect">
            <a:avLst/>
          </a:prstGeom>
          <a:solidFill>
            <a:srgbClr val="025252"/>
          </a:solidFill>
          <a:ln w="12700">
            <a:solidFill>
              <a:srgbClr val="00868A"/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274320" y="137160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Kaggle Dataset  |  1,296,675 transactions  |  Sample: 10,000  |  Features: amt · gender · category · city_pop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182880" y="594360"/>
            <a:ext cx="2606040" cy="3246120"/>
          </a:xfrm>
          <a:prstGeom prst="roundRect">
            <a:avLst>
              <a:gd name="adj" fmla="val 3509"/>
            </a:avLst>
          </a:prstGeom>
          <a:solidFill>
            <a:srgbClr val="024444"/>
          </a:solidFill>
          <a:ln w="12700">
            <a:solidFill>
              <a:srgbClr val="00868A"/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182880" y="68580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KNN</a:t>
            </a:r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292608" y="1170432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✓  Finds K=6 nearest transactions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292608" y="1673352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✗  FAILED on imbalanced data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292608" y="2176272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✓  59 fraud + 100 legit balanced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292608" y="2679192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✗</a:t>
            </a:r>
            <a:r>
              <a:rPr lang="en-US" sz="12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>
                <a:solidFill>
                  <a:schemeClr val="bg1"/>
                </a:solidFill>
              </a:rPr>
              <a:t>Struggles when fraud cases are extremely rare</a:t>
            </a:r>
          </a:p>
        </p:txBody>
      </p:sp>
      <p:sp>
        <p:nvSpPr>
          <p:cNvPr id="12" name="Text 10"/>
          <p:cNvSpPr/>
          <p:nvPr/>
        </p:nvSpPr>
        <p:spPr>
          <a:xfrm>
            <a:off x="292608" y="3182112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355080" y="594360"/>
            <a:ext cx="2606040" cy="3246120"/>
          </a:xfrm>
          <a:prstGeom prst="roundRect">
            <a:avLst>
              <a:gd name="adj" fmla="val 3509"/>
            </a:avLst>
          </a:prstGeom>
          <a:solidFill>
            <a:srgbClr val="024444"/>
          </a:solidFill>
          <a:ln w="12700">
            <a:solidFill>
              <a:srgbClr val="00D4D4"/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6355080" y="68580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Naive Bayes</a:t>
            </a:r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6464808" y="1170432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✓  Calculates fraud probability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6464808" y="1673352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✓  No balancing needed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17" name="Text 15"/>
          <p:cNvSpPr/>
          <p:nvPr/>
        </p:nvSpPr>
        <p:spPr>
          <a:xfrm>
            <a:off x="6464808" y="2176272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✓  Full 10,000 dataset used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18" name="Text 16"/>
          <p:cNvSpPr/>
          <p:nvPr/>
        </p:nvSpPr>
        <p:spPr>
          <a:xfrm>
            <a:off x="6464808" y="2679192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200" dirty="0">
                <a:solidFill>
                  <a:schemeClr val="bg1"/>
                </a:solidFill>
              </a:rPr>
              <a:t>Works well even when fraud cases are extremely rare</a:t>
            </a:r>
          </a:p>
        </p:txBody>
      </p:sp>
      <p:sp>
        <p:nvSpPr>
          <p:cNvPr id="19" name="Text 17"/>
          <p:cNvSpPr/>
          <p:nvPr/>
        </p:nvSpPr>
        <p:spPr>
          <a:xfrm>
            <a:off x="6464808" y="3182112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20" name="Shape 18"/>
          <p:cNvSpPr/>
          <p:nvPr/>
        </p:nvSpPr>
        <p:spPr>
          <a:xfrm>
            <a:off x="5049078" y="4008451"/>
            <a:ext cx="3828553" cy="833893"/>
          </a:xfrm>
          <a:prstGeom prst="rect">
            <a:avLst/>
          </a:prstGeom>
          <a:solidFill>
            <a:srgbClr val="025252"/>
          </a:solidFill>
          <a:ln w="12700">
            <a:solidFill>
              <a:srgbClr val="00868A"/>
            </a:solidFill>
            <a:prstDash val="solid"/>
          </a:ln>
        </p:spPr>
        <p:txBody>
          <a:bodyPr/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 Dataset was preprocessed through transformation, normalization and class imbalance handling before model development</a:t>
            </a:r>
          </a:p>
          <a:p>
            <a:pPr algn="ctr"/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21" name="Text 19"/>
          <p:cNvSpPr/>
          <p:nvPr/>
        </p:nvSpPr>
        <p:spPr>
          <a:xfrm>
            <a:off x="365760" y="4041648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22" name="Text 20"/>
          <p:cNvSpPr/>
          <p:nvPr/>
        </p:nvSpPr>
        <p:spPr>
          <a:xfrm>
            <a:off x="481054" y="4000500"/>
            <a:ext cx="43533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>
              <a:solidFill>
                <a:schemeClr val="bg1"/>
              </a:solidFill>
              <a:cs typeface="Calibri" pitchFamily="34" charset="-120"/>
            </a:endParaRPr>
          </a:p>
          <a:p>
            <a:pPr marL="0" indent="0" algn="ctr">
              <a:buNone/>
            </a:pP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23" name="Text 21"/>
          <p:cNvSpPr/>
          <p:nvPr/>
        </p:nvSpPr>
        <p:spPr>
          <a:xfrm>
            <a:off x="5943600" y="4041648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24" name="Text 22"/>
          <p:cNvSpPr/>
          <p:nvPr/>
        </p:nvSpPr>
        <p:spPr>
          <a:xfrm>
            <a:off x="5943600" y="4027932"/>
            <a:ext cx="1965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28" name="Rectangle 3">
            <a:extLst>
              <a:ext uri="{FF2B5EF4-FFF2-40B4-BE49-F238E27FC236}">
                <a16:creationId xmlns:a16="http://schemas.microsoft.com/office/drawing/2014/main" id="{40B35662-6F11-8975-5C2B-7DE23B8BC6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1752" y="3250692"/>
            <a:ext cx="216275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✗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</a:rPr>
              <a:t>Distance based — dominated by majority class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29" name="Rectangle 4">
            <a:extLst>
              <a:ext uri="{FF2B5EF4-FFF2-40B4-BE49-F238E27FC236}">
                <a16:creationId xmlns:a16="http://schemas.microsoft.com/office/drawing/2014/main" id="{E69FB6D4-27D3-9AE1-0049-9F2B966C4A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64808" y="3170682"/>
            <a:ext cx="232138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2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✓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</a:rPr>
              <a:t>Probability based — not affected by class dominance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25" name="Shape 18">
            <a:extLst>
              <a:ext uri="{FF2B5EF4-FFF2-40B4-BE49-F238E27FC236}">
                <a16:creationId xmlns:a16="http://schemas.microsoft.com/office/drawing/2014/main" id="{B9D7A789-21C3-541E-967D-81C3B20E9CC6}"/>
              </a:ext>
            </a:extLst>
          </p:cNvPr>
          <p:cNvSpPr/>
          <p:nvPr/>
        </p:nvSpPr>
        <p:spPr>
          <a:xfrm>
            <a:off x="429369" y="4027932"/>
            <a:ext cx="3919993" cy="814412"/>
          </a:xfrm>
          <a:prstGeom prst="rect">
            <a:avLst/>
          </a:prstGeom>
          <a:solidFill>
            <a:srgbClr val="025252"/>
          </a:solidFill>
          <a:ln w="12700">
            <a:solidFill>
              <a:srgbClr val="00868A"/>
            </a:solidFill>
            <a:prstDash val="solid"/>
          </a:ln>
        </p:spPr>
        <p:txBody>
          <a:bodyPr/>
          <a:lstStyle/>
          <a:p>
            <a:pPr algn="ctr"/>
            <a:r>
              <a:rPr lang="en-US" sz="12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Data was split into 70% training / 30% testing. KNN required under sampling to handle severe class imbalance (0.59% fraud). </a:t>
            </a:r>
          </a:p>
          <a:p>
            <a:pPr algn="ctr"/>
            <a:r>
              <a:rPr lang="en-US" sz="12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Naive Bayes applied directly to full dataset</a:t>
            </a:r>
          </a:p>
          <a:p>
            <a:pPr algn="ctr"/>
            <a:endParaRPr lang="en-US" sz="12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13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51088" y="365760"/>
            <a:ext cx="3149711" cy="2798759"/>
          </a:xfrm>
          <a:prstGeom prst="ellipse">
            <a:avLst/>
          </a:prstGeom>
          <a:solidFill>
            <a:srgbClr val="00868A">
              <a:alpha val="45000"/>
            </a:srgbClr>
          </a:solidFill>
          <a:ln w="12700">
            <a:solidFill>
              <a:srgbClr val="00D4D4"/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3221271" y="427548"/>
            <a:ext cx="2958881" cy="26712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3200" b="1" dirty="0">
                <a:solidFill>
                  <a:srgbClr val="00D4D4"/>
                </a:solidFill>
                <a:cs typeface="Calibri" pitchFamily="34" charset="-120"/>
              </a:rPr>
              <a:t>RESULTS &amp; FINDINGS</a:t>
            </a:r>
          </a:p>
        </p:txBody>
      </p:sp>
      <p:sp>
        <p:nvSpPr>
          <p:cNvPr id="4" name="Shape 2"/>
          <p:cNvSpPr/>
          <p:nvPr/>
        </p:nvSpPr>
        <p:spPr>
          <a:xfrm>
            <a:off x="5573864" y="421783"/>
            <a:ext cx="2872409" cy="1512041"/>
          </a:xfrm>
          <a:prstGeom prst="ellipse">
            <a:avLst/>
          </a:prstGeom>
          <a:solidFill>
            <a:srgbClr val="025252"/>
          </a:solidFill>
          <a:ln w="12700">
            <a:solidFill>
              <a:srgbClr val="00D4D4"/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7406640" y="182880"/>
            <a:ext cx="1463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358801" y="197122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209714" y="420426"/>
            <a:ext cx="2751151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0.59% fraud — KNN failed on imbalanced data and needed undersampling.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338921" y="3137187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 = Key Predictor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305128" y="3337561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amount had highest fraud correlation (0.308).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6154310" y="554504"/>
            <a:ext cx="1749287" cy="5709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b="1" dirty="0">
              <a:solidFill>
                <a:schemeClr val="bg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Bayes Wins</a:t>
            </a:r>
          </a:p>
          <a:p>
            <a:pPr marL="0" indent="0" algn="ctr">
              <a:buNone/>
            </a:pPr>
            <a:endParaRPr lang="en-US" sz="1200" b="1" dirty="0">
              <a:solidFill>
                <a:schemeClr val="bg1"/>
              </a:solidFill>
              <a:latin typeface="Calibri" pitchFamily="34" charset="0"/>
              <a:cs typeface="Calibri" pitchFamily="34" charset="-120"/>
            </a:endParaRPr>
          </a:p>
          <a:p>
            <a:pPr marL="0" indent="0" algn="ctr">
              <a:buNone/>
            </a:pPr>
            <a:endParaRPr lang="en-US" sz="1200" b="1" dirty="0">
              <a:solidFill>
                <a:schemeClr val="bg1"/>
              </a:solidFill>
              <a:latin typeface="Calibri" pitchFamily="34" charset="0"/>
              <a:cs typeface="Calibri" pitchFamily="34" charset="-120"/>
            </a:endParaRPr>
          </a:p>
          <a:p>
            <a:pPr marL="0" indent="0" algn="ctr">
              <a:buNone/>
            </a:pPr>
            <a:endParaRPr lang="en-US" sz="1200" b="1" dirty="0">
              <a:solidFill>
                <a:schemeClr val="bg1"/>
              </a:solidFill>
              <a:latin typeface="Calibri" pitchFamily="34" charset="0"/>
              <a:cs typeface="Calibri" pitchFamily="34" charset="-12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209969" y="1413345"/>
            <a:ext cx="2043485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6547899" y="2617569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6547899" y="3020303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14" name="Shape 12"/>
          <p:cNvSpPr/>
          <p:nvPr/>
        </p:nvSpPr>
        <p:spPr>
          <a:xfrm flipV="1">
            <a:off x="182880" y="3977641"/>
            <a:ext cx="4548146" cy="45719"/>
          </a:xfrm>
          <a:prstGeom prst="rect">
            <a:avLst/>
          </a:prstGeom>
          <a:solidFill>
            <a:srgbClr val="00868A">
              <a:alpha val="60000"/>
            </a:srgbClr>
          </a:solidFill>
          <a:ln w="12700">
            <a:solidFill>
              <a:srgbClr val="00868A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182881" y="4114799"/>
            <a:ext cx="4548146" cy="86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Bayes is recommended as the superior model for real-world credit card fraud detection.</a:t>
            </a:r>
            <a:endParaRPr lang="en-US" sz="1500" dirty="0">
              <a:solidFill>
                <a:schemeClr val="bg1"/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182880" y="4773168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17" name="Rectangle 1">
            <a:extLst>
              <a:ext uri="{FF2B5EF4-FFF2-40B4-BE49-F238E27FC236}">
                <a16:creationId xmlns:a16="http://schemas.microsoft.com/office/drawing/2014/main" id="{7FE1E8DE-AD32-A924-DAFD-D7F524C84D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4310" y="925331"/>
            <a:ext cx="1924216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</a:rPr>
              <a:t>Naive Bayes detected 9 out of 17 fraud cases versus KNN's 5 —  80% better fraud detection rate. 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pic>
        <p:nvPicPr>
          <p:cNvPr id="20" name="Picture 19" descr="A screenshot of a graph&#10;&#10;AI-generated content may be incorrect.">
            <a:extLst>
              <a:ext uri="{FF2B5EF4-FFF2-40B4-BE49-F238E27FC236}">
                <a16:creationId xmlns:a16="http://schemas.microsoft.com/office/drawing/2014/main" id="{305D80C1-7DD7-8671-EA05-07ECC9EE56C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38" t="1710" r="1840" b="3241"/>
          <a:stretch>
            <a:fillRect/>
          </a:stretch>
        </p:blipFill>
        <p:spPr>
          <a:xfrm>
            <a:off x="1" y="1050765"/>
            <a:ext cx="3149712" cy="2023862"/>
          </a:xfrm>
          <a:prstGeom prst="rect">
            <a:avLst/>
          </a:prstGeom>
        </p:spPr>
      </p:pic>
      <p:pic>
        <p:nvPicPr>
          <p:cNvPr id="22" name="Image 0" descr="preencoded.png">
            <a:extLst>
              <a:ext uri="{FF2B5EF4-FFF2-40B4-BE49-F238E27FC236}">
                <a16:creationId xmlns:a16="http://schemas.microsoft.com/office/drawing/2014/main" id="{D3A715D5-C06C-21CC-F888-5124EEBEA7D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0321" t="12740" r="17385"/>
          <a:stretch>
            <a:fillRect/>
          </a:stretch>
        </p:blipFill>
        <p:spPr>
          <a:xfrm>
            <a:off x="4825943" y="2426020"/>
            <a:ext cx="4221145" cy="262136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3A3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F51B595-EF64-84BA-5A37-FB3DB0725C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665C6F5-124B-2699-8C0B-6A642BC1A0B6}"/>
              </a:ext>
            </a:extLst>
          </p:cNvPr>
          <p:cNvSpPr/>
          <p:nvPr/>
        </p:nvSpPr>
        <p:spPr>
          <a:xfrm>
            <a:off x="7315200" y="2286000"/>
            <a:ext cx="3200400" cy="3200400"/>
          </a:xfrm>
          <a:prstGeom prst="ellipse">
            <a:avLst/>
          </a:prstGeom>
          <a:solidFill>
            <a:srgbClr val="00868A">
              <a:alpha val="30000"/>
            </a:srgbClr>
          </a:solidFill>
          <a:ln w="12700">
            <a:solidFill>
              <a:srgbClr val="00D4D4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DAF455F-BA58-80D6-3F5F-7E049CDC07E1}"/>
              </a:ext>
            </a:extLst>
          </p:cNvPr>
          <p:cNvSpPr/>
          <p:nvPr/>
        </p:nvSpPr>
        <p:spPr>
          <a:xfrm>
            <a:off x="274320" y="731520"/>
            <a:ext cx="3657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52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D9BAC9D-AD6E-3E0B-AC8F-3C12840E4827}"/>
              </a:ext>
            </a:extLst>
          </p:cNvPr>
          <p:cNvSpPr/>
          <p:nvPr/>
        </p:nvSpPr>
        <p:spPr>
          <a:xfrm>
            <a:off x="127221" y="457200"/>
            <a:ext cx="4993419" cy="1810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5400" b="1" dirty="0">
                <a:solidFill>
                  <a:schemeClr val="bg1"/>
                </a:solidFill>
              </a:rPr>
              <a:t>THANK YOU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DEF4839C-BC19-10C5-E411-CF2077F143B7}"/>
              </a:ext>
            </a:extLst>
          </p:cNvPr>
          <p:cNvSpPr/>
          <p:nvPr/>
        </p:nvSpPr>
        <p:spPr>
          <a:xfrm>
            <a:off x="5394960" y="621792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/>
              <a:t> </a:t>
            </a: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0F2DB97C-5239-65D2-6325-0719DD54A3B5}"/>
              </a:ext>
            </a:extLst>
          </p:cNvPr>
          <p:cNvSpPr/>
          <p:nvPr/>
        </p:nvSpPr>
        <p:spPr>
          <a:xfrm>
            <a:off x="5394960" y="2039112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1B5393E7-6FED-329C-8442-E7B0FF550217}"/>
              </a:ext>
            </a:extLst>
          </p:cNvPr>
          <p:cNvSpPr/>
          <p:nvPr/>
        </p:nvSpPr>
        <p:spPr>
          <a:xfrm>
            <a:off x="5394960" y="3456432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92893812-B310-F749-CBBA-8D59C1B2880C}"/>
              </a:ext>
            </a:extLst>
          </p:cNvPr>
          <p:cNvSpPr/>
          <p:nvPr/>
        </p:nvSpPr>
        <p:spPr>
          <a:xfrm>
            <a:off x="274320" y="3383280"/>
            <a:ext cx="313679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4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06BD9C9C-9BE9-EF31-1EE5-412C1CFE8968}"/>
              </a:ext>
            </a:extLst>
          </p:cNvPr>
          <p:cNvSpPr/>
          <p:nvPr/>
        </p:nvSpPr>
        <p:spPr>
          <a:xfrm>
            <a:off x="274320" y="3913632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44644F1F-D9F7-5BC1-61DD-E1A2F65C5B36}"/>
              </a:ext>
            </a:extLst>
          </p:cNvPr>
          <p:cNvSpPr/>
          <p:nvPr/>
        </p:nvSpPr>
        <p:spPr>
          <a:xfrm>
            <a:off x="274320" y="4709160"/>
            <a:ext cx="8595360" cy="18288"/>
          </a:xfrm>
          <a:prstGeom prst="rect">
            <a:avLst/>
          </a:prstGeom>
          <a:solidFill>
            <a:srgbClr val="00868A">
              <a:alpha val="60000"/>
            </a:srgbClr>
          </a:solidFill>
          <a:ln w="12700">
            <a:solidFill>
              <a:srgbClr val="00868A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953D5B55-9BA5-954E-77FB-6C3D8E038C74}"/>
              </a:ext>
            </a:extLst>
          </p:cNvPr>
          <p:cNvSpPr/>
          <p:nvPr/>
        </p:nvSpPr>
        <p:spPr>
          <a:xfrm>
            <a:off x="274320" y="4773168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1" name="Rectangle 2">
            <a:extLst>
              <a:ext uri="{FF2B5EF4-FFF2-40B4-BE49-F238E27FC236}">
                <a16:creationId xmlns:a16="http://schemas.microsoft.com/office/drawing/2014/main" id="{12BC8768-A362-6CB2-C2A2-EDEAB21266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19423" y="964161"/>
            <a:ext cx="3367378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</a:rPr>
              <a:t>.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6484952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</TotalTime>
  <Words>303</Words>
  <Application>Microsoft Macintosh PowerPoint</Application>
  <PresentationFormat>On-screen Show (16:9)</PresentationFormat>
  <Paragraphs>50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Jakku, Keerthi Priya</cp:lastModifiedBy>
  <cp:revision>7</cp:revision>
  <dcterms:created xsi:type="dcterms:W3CDTF">2026-04-29T23:57:05Z</dcterms:created>
  <dcterms:modified xsi:type="dcterms:W3CDTF">2026-04-30T04:05:13Z</dcterms:modified>
</cp:coreProperties>
</file>